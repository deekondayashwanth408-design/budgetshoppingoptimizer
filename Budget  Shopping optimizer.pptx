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63" r:id="rId11"/>
  </p:sldIdLst>
  <p:sldSz cx="12192000" cy="6858000"/>
  <p:notesSz cx="6858000" cy="12192000"/>
  <p:embeddedFontLst>
    <p:embeddedFont>
      <p:font typeface="Algerian" panose="04020705040A02060702" pitchFamily="82" charset="0"/>
      <p:regular r:id="rId13"/>
    </p:embeddedFont>
    <p:embeddedFont>
      <p:font typeface="Arial Rounded MT Bold" panose="020F0704030504030204" pitchFamily="34" charset="0"/>
      <p:regular r:id="rId14"/>
    </p:embeddedFont>
    <p:embeddedFont>
      <p:font typeface="Schibsted Grotesk" panose="020B0604020202020204" charset="0"/>
      <p:regular r:id="rId15"/>
    </p:embeddedFont>
    <p:embeddedFont>
      <p:font typeface="Schibsted Grotesk Bold" panose="020B0604020202020204" charset="0"/>
      <p:regular r:id="rId16"/>
    </p:embeddedFont>
    <p:embeddedFont>
      <p:font typeface="Schibsted Grotesk ExtraBold" panose="020B0604020202020204" charset="0"/>
      <p:regular r:id="rId17"/>
    </p:embeddedFont>
    <p:embeddedFont>
      <p:font typeface="Schibsted Grotesk Medium" panose="020B0604020202020204" charset="0"/>
      <p:regular r:id="rId18"/>
    </p:embeddedFont>
    <p:embeddedFont>
      <p:font typeface="Schibsted Grotesk Semi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4662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Budget Shopping Optimizer as an explainable engine for getting maximum basket value from a fixed budget, with the project title, idea, team context, and retail optimization 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manual shopping fails under tight budgets: evaluating every product subset is impractical, and shoppers either leave money unused or miss higher-utility combinations.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jury through the innovation: compare Dynamic Programming for the global optimum with Greedy for speed, then show how the explanation engine makes every trade-off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four-step pipeline: set the budget, normalize product utility against price, execute both algorithms, and visualize the resulting baskets side by side with audit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Showcase the stack and algorithmic rigor: Python, Streamlit, and SQLite make the prototype practical, while the two algorithms make complexity and value assurance easy to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benchmark numbers: with a ₹10,000 budget, Knapsack achieved utility 328 versus 294 for Greedy and used more of the available budget, while the audit log explains the missed item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current working prototype, the roadmap toward multi-constraint optimization and live personalization, and the final takeaway that better shopping decisions should be measurable and explainable. Thank the judges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7" y="1856737"/>
            <a:ext cx="3683837" cy="376295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EBD8827-B942-86E3-CA09-88750DF85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036" y="23917"/>
            <a:ext cx="9825135" cy="143129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7A83B04-E81E-44D2-1C59-B46CE7E10B36}"/>
              </a:ext>
            </a:extLst>
          </p:cNvPr>
          <p:cNvSpPr txBox="1"/>
          <p:nvPr/>
        </p:nvSpPr>
        <p:spPr>
          <a:xfrm>
            <a:off x="506963" y="1697635"/>
            <a:ext cx="74987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1.PROJECT INTRODUCTION</a:t>
            </a:r>
            <a:endParaRPr lang="en-IN" sz="4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5DFB7C-2EA8-DD19-C4A6-C769F013F8C1}"/>
              </a:ext>
            </a:extLst>
          </p:cNvPr>
          <p:cNvSpPr txBox="1"/>
          <p:nvPr/>
        </p:nvSpPr>
        <p:spPr>
          <a:xfrm>
            <a:off x="506964" y="2640356"/>
            <a:ext cx="73898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PROJECT TITLE       </a:t>
            </a:r>
            <a:r>
              <a:rPr lang="en-US" dirty="0">
                <a:solidFill>
                  <a:schemeClr val="bg1"/>
                </a:solidFill>
              </a:rPr>
              <a:t>: BUDGET SHOPPING OPTIMIZER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ONE LINE IDEA      </a:t>
            </a:r>
            <a:r>
              <a:rPr lang="en-US" dirty="0">
                <a:solidFill>
                  <a:schemeClr val="bg1"/>
                </a:solidFill>
              </a:rPr>
              <a:t>: CHOOSE THE MOST USEFUL COMBINATION OF PRODUCTS </a:t>
            </a:r>
          </a:p>
          <a:p>
            <a:r>
              <a:rPr lang="en-IN" dirty="0">
                <a:solidFill>
                  <a:schemeClr val="bg1"/>
                </a:solidFill>
              </a:rPr>
              <a:t>                                 WITHOUT GOING OVER YOUR BUDGET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TEAM MEMBERS </a:t>
            </a:r>
            <a:r>
              <a:rPr lang="en-IN" dirty="0">
                <a:solidFill>
                  <a:schemeClr val="bg1"/>
                </a:solidFill>
              </a:rPr>
              <a:t>: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25MVCSMR0003- A . SREEVARSHINI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                                25MVCSMR0017- C . SRIVALLI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                                25MVCSMR0020- CH . PRAVALIKA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                                25MVCSMR0031- D . YASHWANTH</a:t>
            </a:r>
          </a:p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PROBLEM DOMAIN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: BUDGET PLANNING AND ALGORITHM OPTIMIZATION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90649"/>
            <a:ext cx="888977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2. The Challenge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07987" y="1374180"/>
            <a:ext cx="888977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Shopping under a hard budget is a real-world optimization problem, not just a filtering task.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7987" y="2224683"/>
            <a:ext cx="2222345" cy="50701"/>
          </a:xfrm>
          <a:prstGeom prst="roundRect">
            <a:avLst>
              <a:gd name="adj" fmla="val 49999"/>
            </a:avLst>
          </a:prstGeom>
          <a:solidFill>
            <a:srgbClr val="C5E35A"/>
          </a:solidFill>
          <a:ln/>
        </p:spPr>
      </p:sp>
      <p:sp>
        <p:nvSpPr>
          <p:cNvPr id="5" name="Shape 3"/>
          <p:cNvSpPr/>
          <p:nvPr/>
        </p:nvSpPr>
        <p:spPr>
          <a:xfrm>
            <a:off x="507987" y="2546945"/>
            <a:ext cx="380990" cy="381000"/>
          </a:xfrm>
          <a:prstGeom prst="ellipse">
            <a:avLst/>
          </a:prstGeom>
          <a:solidFill>
            <a:srgbClr val="FF7F66"/>
          </a:solidFill>
          <a:ln/>
        </p:spPr>
      </p:sp>
      <p:sp>
        <p:nvSpPr>
          <p:cNvPr id="6" name="Text 4"/>
          <p:cNvSpPr/>
          <p:nvPr/>
        </p:nvSpPr>
        <p:spPr>
          <a:xfrm>
            <a:off x="657308" y="2629495"/>
            <a:ext cx="69183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F3B2E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66773" y="2508845"/>
            <a:ext cx="833099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Real-world problem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66773" y="3047901"/>
            <a:ext cx="83309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Choose a basket that maximizes utility while staying within a spending ceiling.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07987" y="3808909"/>
            <a:ext cx="380990" cy="381000"/>
          </a:xfrm>
          <a:prstGeom prst="ellipse">
            <a:avLst/>
          </a:prstGeom>
          <a:solidFill>
            <a:srgbClr val="FF7F66"/>
          </a:solidFill>
          <a:ln/>
        </p:spPr>
      </p:sp>
      <p:sp>
        <p:nvSpPr>
          <p:cNvPr id="10" name="Text 8"/>
          <p:cNvSpPr/>
          <p:nvPr/>
        </p:nvSpPr>
        <p:spPr>
          <a:xfrm>
            <a:off x="634984" y="3891459"/>
            <a:ext cx="73648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F3B2E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66773" y="3770809"/>
            <a:ext cx="833099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Why it matters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66773" y="4309864"/>
            <a:ext cx="8330992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Manual choices leave value or budget unused, while opaque recommendations hide the trade-offs behind every item.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07987" y="5336580"/>
            <a:ext cx="380990" cy="381000"/>
          </a:xfrm>
          <a:prstGeom prst="ellipse">
            <a:avLst/>
          </a:prstGeom>
          <a:solidFill>
            <a:srgbClr val="FF7F66"/>
          </a:solidFill>
          <a:ln/>
        </p:spPr>
      </p:sp>
      <p:sp>
        <p:nvSpPr>
          <p:cNvPr id="14" name="Text 12"/>
          <p:cNvSpPr/>
          <p:nvPr/>
        </p:nvSpPr>
        <p:spPr>
          <a:xfrm>
            <a:off x="634488" y="5419130"/>
            <a:ext cx="73747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0F3B2E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66773" y="5298480"/>
            <a:ext cx="833099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Key challenges faced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66773" y="5837535"/>
            <a:ext cx="8330992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Combinatorial explosion, limited explainability, and the tension between globally optimal and instant decisions.</a:t>
            </a:r>
            <a:endParaRPr lang="en-US" sz="15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4953" y="304800"/>
            <a:ext cx="2031949" cy="483631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854953" y="5318919"/>
            <a:ext cx="2031949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Mathematical optimization beats shopping guesswork.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07987" y="3535859"/>
            <a:ext cx="8889778" cy="12700"/>
          </a:xfrm>
          <a:prstGeom prst="rect">
            <a:avLst/>
          </a:prstGeom>
          <a:solidFill>
            <a:srgbClr val="2F6755"/>
          </a:solidFill>
          <a:ln/>
        </p:spPr>
      </p:sp>
      <p:sp>
        <p:nvSpPr>
          <p:cNvPr id="20" name="Shape 17"/>
          <p:cNvSpPr/>
          <p:nvPr/>
        </p:nvSpPr>
        <p:spPr>
          <a:xfrm>
            <a:off x="507987" y="5063530"/>
            <a:ext cx="8889778" cy="12700"/>
          </a:xfrm>
          <a:prstGeom prst="rect">
            <a:avLst/>
          </a:prstGeom>
          <a:solidFill>
            <a:srgbClr val="2F6755"/>
          </a:solidFill>
          <a:ln/>
        </p:spPr>
      </p:sp>
      <p:sp>
        <p:nvSpPr>
          <p:cNvPr id="21" name="Text 18"/>
          <p:cNvSpPr/>
          <p:nvPr/>
        </p:nvSpPr>
        <p:spPr>
          <a:xfrm>
            <a:off x="11554429" y="6526510"/>
            <a:ext cx="637266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57200"/>
            <a:ext cx="11175720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3. Our Innovation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07987" y="1240730"/>
            <a:ext cx="1168370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One decision cockpit makes the trade-off between certainty, speed, and explainability visible in real time.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7987" y="1782663"/>
            <a:ext cx="2793831" cy="50701"/>
          </a:xfrm>
          <a:prstGeom prst="roundRect">
            <a:avLst>
              <a:gd name="adj" fmla="val 49999"/>
            </a:avLst>
          </a:prstGeom>
          <a:solidFill>
            <a:srgbClr val="C5E35A"/>
          </a:solidFill>
          <a:ln/>
        </p:spPr>
      </p:sp>
      <p:sp>
        <p:nvSpPr>
          <p:cNvPr id="5" name="Shape 3"/>
          <p:cNvSpPr/>
          <p:nvPr/>
        </p:nvSpPr>
        <p:spPr>
          <a:xfrm>
            <a:off x="507987" y="2066826"/>
            <a:ext cx="3521979" cy="2556867"/>
          </a:xfrm>
          <a:prstGeom prst="roundRect">
            <a:avLst>
              <a:gd name="adj" fmla="val 4768"/>
            </a:avLst>
          </a:prstGeom>
          <a:solidFill>
            <a:srgbClr val="F7FAF4"/>
          </a:solidFill>
          <a:ln/>
        </p:spPr>
      </p:sp>
      <p:sp>
        <p:nvSpPr>
          <p:cNvPr id="6" name="Text 4"/>
          <p:cNvSpPr/>
          <p:nvPr/>
        </p:nvSpPr>
        <p:spPr>
          <a:xfrm>
            <a:off x="761981" y="2346226"/>
            <a:ext cx="3013992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What makes it different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1981" y="3281462"/>
            <a:ext cx="3013992" cy="1062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It benchmarks an optimal mathematical solution against a fast heuristic instead of hiding the decision logic.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34759" y="2066826"/>
            <a:ext cx="3522078" cy="2556867"/>
          </a:xfrm>
          <a:prstGeom prst="roundRect">
            <a:avLst>
              <a:gd name="adj" fmla="val 4768"/>
            </a:avLst>
          </a:prstGeom>
          <a:solidFill>
            <a:srgbClr val="F7FAF4"/>
          </a:solidFill>
          <a:ln/>
        </p:spPr>
      </p:sp>
      <p:sp>
        <p:nvSpPr>
          <p:cNvPr id="9" name="Text 7"/>
          <p:cNvSpPr/>
          <p:nvPr/>
        </p:nvSpPr>
        <p:spPr>
          <a:xfrm>
            <a:off x="4588752" y="2346226"/>
            <a:ext cx="3014091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Core idea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88752" y="2885281"/>
            <a:ext cx="3014091" cy="1062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Run 0/1 Knapsack dynamic programming and Greedy ratio sorting side by side on the same catalog and budget.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161629" y="2066826"/>
            <a:ext cx="3522078" cy="2556867"/>
          </a:xfrm>
          <a:prstGeom prst="roundRect">
            <a:avLst>
              <a:gd name="adj" fmla="val 4768"/>
            </a:avLst>
          </a:prstGeom>
          <a:solidFill>
            <a:srgbClr val="F7FAF4"/>
          </a:solidFill>
          <a:ln/>
        </p:spPr>
      </p:sp>
      <p:sp>
        <p:nvSpPr>
          <p:cNvPr id="12" name="Text 10"/>
          <p:cNvSpPr/>
          <p:nvPr/>
        </p:nvSpPr>
        <p:spPr>
          <a:xfrm>
            <a:off x="8415623" y="2346226"/>
            <a:ext cx="3014091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415623" y="2885281"/>
            <a:ext cx="3014091" cy="1062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Live comparison metrics, item-level audit logs, and human-readable reasons for chosen, deferred, or skipped products.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07987" y="5553174"/>
            <a:ext cx="1117572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Unique approach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07987" y="6092230"/>
            <a:ext cx="1168370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Shoppers see not just what to buy, but exactly why each algorithm made its choices.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552643" y="6526510"/>
            <a:ext cx="63905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57200"/>
            <a:ext cx="11175720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4. How It Works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07987" y="1240730"/>
            <a:ext cx="1168370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 simple workflow turns a budget and product catalog into a recommended basket with a clear audit trail.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7987" y="1782663"/>
            <a:ext cx="2793831" cy="50701"/>
          </a:xfrm>
          <a:prstGeom prst="roundRect">
            <a:avLst>
              <a:gd name="adj" fmla="val 49999"/>
            </a:avLst>
          </a:prstGeom>
          <a:solidFill>
            <a:srgbClr val="C5E35A"/>
          </a:solidFill>
          <a:ln/>
        </p:spPr>
      </p:sp>
      <p:sp>
        <p:nvSpPr>
          <p:cNvPr id="5" name="Shape 3"/>
          <p:cNvSpPr/>
          <p:nvPr/>
        </p:nvSpPr>
        <p:spPr>
          <a:xfrm>
            <a:off x="507987" y="2066826"/>
            <a:ext cx="2565336" cy="3035995"/>
          </a:xfrm>
          <a:prstGeom prst="roundRect">
            <a:avLst>
              <a:gd name="adj" fmla="val 4752"/>
            </a:avLst>
          </a:prstGeom>
          <a:solidFill>
            <a:srgbClr val="F7FAF4"/>
          </a:solidFill>
          <a:ln/>
        </p:spPr>
      </p:sp>
      <p:sp>
        <p:nvSpPr>
          <p:cNvPr id="6" name="Shape 4"/>
          <p:cNvSpPr/>
          <p:nvPr/>
        </p:nvSpPr>
        <p:spPr>
          <a:xfrm>
            <a:off x="711182" y="2320826"/>
            <a:ext cx="507987" cy="508000"/>
          </a:xfrm>
          <a:prstGeom prst="roundRect">
            <a:avLst>
              <a:gd name="adj" fmla="val 18900"/>
            </a:avLst>
          </a:prstGeom>
          <a:solidFill>
            <a:srgbClr val="F6B93B"/>
          </a:solidFill>
          <a:ln/>
        </p:spPr>
      </p:sp>
      <p:sp>
        <p:nvSpPr>
          <p:cNvPr id="7" name="Text 5"/>
          <p:cNvSpPr/>
          <p:nvPr/>
        </p:nvSpPr>
        <p:spPr>
          <a:xfrm>
            <a:off x="823991" y="2435126"/>
            <a:ext cx="89185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0F3B2E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1182" y="2981226"/>
            <a:ext cx="215894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Input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1182" y="3520281"/>
            <a:ext cx="2158946" cy="132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User enters a spending ceiling such as ₹10,000 and loads products with cost, utility, and category data.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3378115" y="2066826"/>
            <a:ext cx="2565336" cy="3035995"/>
          </a:xfrm>
          <a:prstGeom prst="roundRect">
            <a:avLst>
              <a:gd name="adj" fmla="val 4752"/>
            </a:avLst>
          </a:prstGeom>
          <a:solidFill>
            <a:srgbClr val="F7FAF4"/>
          </a:solidFill>
          <a:ln/>
        </p:spPr>
      </p:sp>
      <p:sp>
        <p:nvSpPr>
          <p:cNvPr id="11" name="Shape 9"/>
          <p:cNvSpPr/>
          <p:nvPr/>
        </p:nvSpPr>
        <p:spPr>
          <a:xfrm>
            <a:off x="3581310" y="2320826"/>
            <a:ext cx="507987" cy="508000"/>
          </a:xfrm>
          <a:prstGeom prst="roundRect">
            <a:avLst>
              <a:gd name="adj" fmla="val 18900"/>
            </a:avLst>
          </a:prstGeom>
          <a:solidFill>
            <a:srgbClr val="F6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3666240" y="2435126"/>
            <a:ext cx="9477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0F3B2E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81310" y="2981226"/>
            <a:ext cx="215894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Processing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81310" y="3520281"/>
            <a:ext cx="2158946" cy="1062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system computes utility-to-price density ratios across the available inventory.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248244" y="2066826"/>
            <a:ext cx="2565336" cy="3035995"/>
          </a:xfrm>
          <a:prstGeom prst="roundRect">
            <a:avLst>
              <a:gd name="adj" fmla="val 4752"/>
            </a:avLst>
          </a:prstGeom>
          <a:solidFill>
            <a:srgbClr val="F7FAF4"/>
          </a:solidFill>
          <a:ln/>
        </p:spPr>
      </p:sp>
      <p:sp>
        <p:nvSpPr>
          <p:cNvPr id="16" name="Shape 14"/>
          <p:cNvSpPr/>
          <p:nvPr/>
        </p:nvSpPr>
        <p:spPr>
          <a:xfrm>
            <a:off x="6451439" y="2320826"/>
            <a:ext cx="507987" cy="508000"/>
          </a:xfrm>
          <a:prstGeom prst="roundRect">
            <a:avLst>
              <a:gd name="adj" fmla="val 18900"/>
            </a:avLst>
          </a:prstGeom>
          <a:solidFill>
            <a:srgbClr val="F6B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534979" y="2435126"/>
            <a:ext cx="95039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0F3B2E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51439" y="2981226"/>
            <a:ext cx="215894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Algorithm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51439" y="3520281"/>
            <a:ext cx="2158946" cy="1062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It runs 0/1 Knapsack DP alongside Greedy ratio sorting for an instant comparison.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9118372" y="2066826"/>
            <a:ext cx="2565336" cy="3035995"/>
          </a:xfrm>
          <a:prstGeom prst="roundRect">
            <a:avLst>
              <a:gd name="adj" fmla="val 4752"/>
            </a:avLst>
          </a:prstGeom>
          <a:solidFill>
            <a:srgbClr val="F7FAF4"/>
          </a:solidFill>
          <a:ln/>
        </p:spPr>
      </p:sp>
      <p:sp>
        <p:nvSpPr>
          <p:cNvPr id="21" name="Shape 19"/>
          <p:cNvSpPr/>
          <p:nvPr/>
        </p:nvSpPr>
        <p:spPr>
          <a:xfrm>
            <a:off x="9321567" y="2320826"/>
            <a:ext cx="507987" cy="508000"/>
          </a:xfrm>
          <a:prstGeom prst="roundRect">
            <a:avLst>
              <a:gd name="adj" fmla="val 18900"/>
            </a:avLst>
          </a:prstGeom>
          <a:solidFill>
            <a:srgbClr val="F6B93B"/>
          </a:solidFill>
          <a:ln/>
        </p:spPr>
      </p:sp>
      <p:sp>
        <p:nvSpPr>
          <p:cNvPr id="22" name="Text 20"/>
          <p:cNvSpPr/>
          <p:nvPr/>
        </p:nvSpPr>
        <p:spPr>
          <a:xfrm>
            <a:off x="9402626" y="2435126"/>
            <a:ext cx="95535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0F3B2E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321567" y="2981226"/>
            <a:ext cx="215894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Output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321567" y="3520281"/>
            <a:ext cx="2158946" cy="132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dashboard returns selected items, total cost, utility, budget utilization, and itemized decision logs.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507987" y="5553174"/>
            <a:ext cx="1117572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User journey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07987" y="6092230"/>
            <a:ext cx="1168370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Set a budget → inspect the two baskets → understand the trade-off → choose with confidence.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552048" y="6526510"/>
            <a:ext cx="63964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57200"/>
            <a:ext cx="11175720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5. Technology &amp; Algorithm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07987" y="1240730"/>
            <a:ext cx="1168370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Practical tools support a transparent comparison between optimality and responsiveness.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7987" y="1782663"/>
            <a:ext cx="2793831" cy="50701"/>
          </a:xfrm>
          <a:prstGeom prst="roundRect">
            <a:avLst>
              <a:gd name="adj" fmla="val 49999"/>
            </a:avLst>
          </a:prstGeom>
          <a:solidFill>
            <a:srgbClr val="C5E35A"/>
          </a:solidFill>
          <a:ln/>
        </p:spPr>
      </p:sp>
      <p:sp>
        <p:nvSpPr>
          <p:cNvPr id="5" name="Shape 3"/>
          <p:cNvSpPr/>
          <p:nvPr/>
        </p:nvSpPr>
        <p:spPr>
          <a:xfrm>
            <a:off x="507987" y="2066826"/>
            <a:ext cx="5435464" cy="3320058"/>
          </a:xfrm>
          <a:prstGeom prst="roundRect">
            <a:avLst>
              <a:gd name="adj" fmla="val 3672"/>
            </a:avLst>
          </a:prstGeom>
          <a:solidFill>
            <a:srgbClr val="F7FAF4"/>
          </a:solidFill>
          <a:ln/>
        </p:spPr>
      </p:sp>
      <p:sp>
        <p:nvSpPr>
          <p:cNvPr id="6" name="Text 4"/>
          <p:cNvSpPr/>
          <p:nvPr/>
        </p:nvSpPr>
        <p:spPr>
          <a:xfrm>
            <a:off x="736582" y="2244626"/>
            <a:ext cx="497827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=&gt;Tech stack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6582" y="2783681"/>
            <a:ext cx="4978275" cy="1557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55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Python 3.11:</a:t>
            </a: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algorithmic implementation.</a:t>
            </a:r>
            <a:endParaRPr lang="en-US" sz="1550" dirty="0"/>
          </a:p>
          <a:p>
            <a:pPr marL="0" indent="0" algn="l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55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Streamlit:</a:t>
            </a: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reactive UI with budget controls and live recalculation.</a:t>
            </a:r>
            <a:endParaRPr lang="en-US" sz="15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SQLite:</a:t>
            </a: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persisted product inventory and CRUD operations.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248244" y="2066826"/>
            <a:ext cx="5435464" cy="3320058"/>
          </a:xfrm>
          <a:prstGeom prst="roundRect">
            <a:avLst>
              <a:gd name="adj" fmla="val 3672"/>
            </a:avLst>
          </a:prstGeom>
          <a:solidFill>
            <a:srgbClr val="F7FAF4"/>
          </a:solidFill>
          <a:ln/>
        </p:spPr>
      </p:sp>
      <p:sp>
        <p:nvSpPr>
          <p:cNvPr id="9" name="Text 7"/>
          <p:cNvSpPr/>
          <p:nvPr/>
        </p:nvSpPr>
        <p:spPr>
          <a:xfrm>
            <a:off x="6476838" y="2244626"/>
            <a:ext cx="497827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=&gt;Main algorithms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76838" y="2783681"/>
            <a:ext cx="4978275" cy="1177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55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0/1 Knapsack DP:</a:t>
            </a: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guarantees the global optimum under the cap.</a:t>
            </a:r>
            <a:endParaRPr lang="en-US" sz="15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Greedy ratio sort:</a:t>
            </a: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prioritizes utility per rupee for fast responses.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76838" y="4138612"/>
            <a:ext cx="497827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Why chosen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76838" y="4677668"/>
            <a:ext cx="4978275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Together they expose the speed-versus-optimality trade-off.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07987" y="5723434"/>
            <a:ext cx="1117572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=&gt;Complexity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7987" y="6262489"/>
            <a:ext cx="1168370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DP: O(n × W) time, O(n × W) or O(W) space · Greedy: O(n log n) time, O(n) auxiliary space.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549766" y="6526510"/>
            <a:ext cx="64192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57200"/>
            <a:ext cx="11175720" cy="540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050" kern="100" spc="-61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6. Demo &amp; Impact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507987" y="1164332"/>
            <a:ext cx="1168370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The demo makes the trade-off visible with a ₹10,000 benchmark run.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07987" y="1640384"/>
            <a:ext cx="2793831" cy="38100"/>
          </a:xfrm>
          <a:prstGeom prst="roundRect">
            <a:avLst>
              <a:gd name="adj" fmla="val 49999"/>
            </a:avLst>
          </a:prstGeom>
          <a:solidFill>
            <a:srgbClr val="C5E35A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1881783"/>
            <a:ext cx="6431198" cy="364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=&gt;Screenshots / demo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2410268"/>
            <a:ext cx="5079873" cy="2095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96275" y="1881783"/>
            <a:ext cx="4287433" cy="364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Sample output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96275" y="2367657"/>
            <a:ext cx="4287433" cy="915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E3EEE7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DP:</a:t>
            </a:r>
            <a:r>
              <a:rPr lang="en-US" sz="16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₹9,850 cost · 328 utility · ₹150 unused.</a:t>
            </a:r>
            <a:endParaRPr lang="en-US" sz="16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E3EEE7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Greedy:</a:t>
            </a:r>
            <a:r>
              <a:rPr lang="en-US" sz="16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₹9,200 cost · 294 utility · ₹800 unused.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396275" y="3433465"/>
            <a:ext cx="4287433" cy="364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Performance / results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396275" y="3919339"/>
            <a:ext cx="4287433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E3EEE7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98.5%</a:t>
            </a:r>
            <a:r>
              <a:rPr lang="en-US" sz="16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budget used by DP vs. </a:t>
            </a:r>
            <a:r>
              <a:rPr lang="en-US" sz="1650" b="1" dirty="0">
                <a:solidFill>
                  <a:srgbClr val="E3EEE7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92.0%</a:t>
            </a:r>
            <a:r>
              <a:rPr lang="en-US" sz="16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by Greedy; DP delivered </a:t>
            </a:r>
            <a:r>
              <a:rPr lang="en-US" sz="1650" b="1" dirty="0">
                <a:solidFill>
                  <a:srgbClr val="E3EEE7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+11.6%</a:t>
            </a:r>
            <a:r>
              <a:rPr lang="en-US" sz="16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more utility value.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396275" y="4888309"/>
            <a:ext cx="4287433" cy="364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Practical benefits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396275" y="5374184"/>
            <a:ext cx="4287433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Audit logs explain why an item was selected or skipped, turning the recommendation into an actionable decision.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07987" y="6343154"/>
            <a:ext cx="1168370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The benchmark shows how better budget utilization translates directly into higher basket value.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1547285" y="6526510"/>
            <a:ext cx="6444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1868B4-3AC3-D369-35ED-47E7C93F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49" y="354563"/>
            <a:ext cx="5788272" cy="6018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81E9E9-00F7-3BB2-C28B-98A27498F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776" y="354562"/>
            <a:ext cx="5949820" cy="601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354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23DED0-7508-DC6D-1BA2-EE0B3E960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2" y="289249"/>
            <a:ext cx="5906278" cy="62788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814644-E9DC-60EF-63EB-91E3BF00C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420" y="289249"/>
            <a:ext cx="5906278" cy="627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33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57200"/>
            <a:ext cx="11175720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7. Future Vision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07987" y="1240730"/>
            <a:ext cx="1117572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We are moving from a functional prototype toward a personalized decision assistant for real-world consumers.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7987" y="2091234"/>
            <a:ext cx="2793831" cy="50701"/>
          </a:xfrm>
          <a:prstGeom prst="roundRect">
            <a:avLst>
              <a:gd name="adj" fmla="val 49999"/>
            </a:avLst>
          </a:prstGeom>
          <a:solidFill>
            <a:srgbClr val="C5E35A"/>
          </a:solidFill>
          <a:ln/>
        </p:spPr>
      </p:sp>
      <p:sp>
        <p:nvSpPr>
          <p:cNvPr id="5" name="Shape 3"/>
          <p:cNvSpPr/>
          <p:nvPr/>
        </p:nvSpPr>
        <p:spPr>
          <a:xfrm>
            <a:off x="507987" y="2375396"/>
            <a:ext cx="3521979" cy="2556867"/>
          </a:xfrm>
          <a:prstGeom prst="roundRect">
            <a:avLst>
              <a:gd name="adj" fmla="val 4768"/>
            </a:avLst>
          </a:prstGeom>
          <a:solidFill>
            <a:srgbClr val="F7FAF4"/>
          </a:solidFill>
          <a:ln/>
        </p:spPr>
      </p:sp>
      <p:sp>
        <p:nvSpPr>
          <p:cNvPr id="6" name="Text 4"/>
          <p:cNvSpPr/>
          <p:nvPr/>
        </p:nvSpPr>
        <p:spPr>
          <a:xfrm>
            <a:off x="761981" y="2654796"/>
            <a:ext cx="301399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Current achievement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1981" y="3193852"/>
            <a:ext cx="3013992" cy="1062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 working Streamlit prototype compares optimal and Greedy baskets with transparent item-level explanations.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34759" y="2375396"/>
            <a:ext cx="3522078" cy="2556867"/>
          </a:xfrm>
          <a:prstGeom prst="roundRect">
            <a:avLst>
              <a:gd name="adj" fmla="val 4768"/>
            </a:avLst>
          </a:prstGeom>
          <a:solidFill>
            <a:srgbClr val="F7FAF4"/>
          </a:solidFill>
          <a:ln/>
        </p:spPr>
      </p:sp>
      <p:sp>
        <p:nvSpPr>
          <p:cNvPr id="9" name="Text 7"/>
          <p:cNvSpPr/>
          <p:nvPr/>
        </p:nvSpPr>
        <p:spPr>
          <a:xfrm>
            <a:off x="4588752" y="2654796"/>
            <a:ext cx="3014091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Future improvements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88752" y="3590032"/>
            <a:ext cx="3014091" cy="1062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Add multi-constraint optimization, live store price and coupon APIs, and learned user utilities.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161629" y="2375396"/>
            <a:ext cx="3522078" cy="2556867"/>
          </a:xfrm>
          <a:prstGeom prst="roundRect">
            <a:avLst>
              <a:gd name="adj" fmla="val 4768"/>
            </a:avLst>
          </a:prstGeom>
          <a:solidFill>
            <a:srgbClr val="F7FAF4"/>
          </a:solidFill>
          <a:ln/>
        </p:spPr>
      </p:sp>
      <p:sp>
        <p:nvSpPr>
          <p:cNvPr id="12" name="Text 10"/>
          <p:cNvSpPr/>
          <p:nvPr/>
        </p:nvSpPr>
        <p:spPr>
          <a:xfrm>
            <a:off x="8415623" y="2654796"/>
            <a:ext cx="3014091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Scalability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415623" y="3193852"/>
            <a:ext cx="3014091" cy="1062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Support larger catalogs, real-time re-optimization, and constraints such as weight, shelf space, and category minimums.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07987" y="5107484"/>
            <a:ext cx="707789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=&gt;Final takeaway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07987" y="5646539"/>
            <a:ext cx="7077890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Make every budget decision measurable, optimal, and explainable.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564847" y="6526510"/>
            <a:ext cx="62684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605605-641F-E934-6683-177B90A3E171}"/>
              </a:ext>
            </a:extLst>
          </p:cNvPr>
          <p:cNvSpPr txBox="1"/>
          <p:nvPr/>
        </p:nvSpPr>
        <p:spPr>
          <a:xfrm>
            <a:off x="3247055" y="2481943"/>
            <a:ext cx="1017036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>
                    <a:lumMod val="95000"/>
                  </a:schemeClr>
                </a:solidFill>
                <a:latin typeface="Algerian" panose="04020705040A02060702" pitchFamily="82" charset="0"/>
              </a:rPr>
              <a:t>THANK</a:t>
            </a:r>
          </a:p>
          <a:p>
            <a:r>
              <a:rPr lang="en-US" sz="6600" dirty="0">
                <a:solidFill>
                  <a:schemeClr val="bg1">
                    <a:lumMod val="95000"/>
                  </a:schemeClr>
                </a:solidFill>
                <a:latin typeface="Algerian" panose="04020705040A02060702" pitchFamily="82" charset="0"/>
              </a:rPr>
              <a:t>            YOU!!</a:t>
            </a:r>
            <a:endParaRPr lang="en-IN" sz="6600" dirty="0">
              <a:solidFill>
                <a:schemeClr val="bg1">
                  <a:lumMod val="95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096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930</Words>
  <Application>Microsoft Office PowerPoint</Application>
  <PresentationFormat>Widescreen</PresentationFormat>
  <Paragraphs>106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Algerian</vt:lpstr>
      <vt:lpstr>Arial Rounded MT Bold</vt:lpstr>
      <vt:lpstr>Schibsted Grotesk SemiBold</vt:lpstr>
      <vt:lpstr>Schibsted Grotesk Medium</vt:lpstr>
      <vt:lpstr>Schibsted Grotesk Bold</vt:lpstr>
      <vt:lpstr>Schibsted Grotesk ExtraBold</vt:lpstr>
      <vt:lpstr>Arial</vt:lpstr>
      <vt:lpstr>Schibsted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Srivalli</dc:creator>
  <cp:lastModifiedBy>Srivalli Chelimilla</cp:lastModifiedBy>
  <cp:revision>4</cp:revision>
  <dcterms:created xsi:type="dcterms:W3CDTF">2026-10-03T05:28:28Z</dcterms:created>
  <dcterms:modified xsi:type="dcterms:W3CDTF">2026-10-03T09:14:34Z</dcterms:modified>
</cp:coreProperties>
</file>